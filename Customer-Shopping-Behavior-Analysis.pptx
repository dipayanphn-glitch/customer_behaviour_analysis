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52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Purchase 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Transactional data analyzed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 captured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 review ratings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413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features: demographics, purchase details, shopping behavior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8561"/>
            <a:ext cx="67765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Preparation Process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Imported using pandas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Structure and statistics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Missing Data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Imputed median ratings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5467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Standardization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21546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Snake case columns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119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876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Age Groups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96882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Binned customer ages for segmentation analysis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3876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Purchase Frequency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96882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Calculated days between purchases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153858"/>
            <a:ext cx="7556421" cy="963811"/>
          </a:xfrm>
          <a:prstGeom prst="roundRect">
            <a:avLst>
              <a:gd name="adj" fmla="val 21181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04" y="5497949"/>
            <a:ext cx="283488" cy="2268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17306" y="5437346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Dropped redundant promo_code_used column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7877"/>
            <a:ext cx="82710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SQL Analysis: Revenue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30285"/>
            <a:ext cx="4196358" cy="2931438"/>
          </a:xfrm>
          <a:prstGeom prst="roundRect">
            <a:avLst>
              <a:gd name="adj" fmla="val 6964"/>
            </a:avLst>
          </a:prstGeom>
          <a:solidFill>
            <a:srgbClr val="CEE6FD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4570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64414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364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Revenue by Gender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85477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Compared male vs. female customer spending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230285"/>
            <a:ext cx="4196358" cy="2931438"/>
          </a:xfrm>
          <a:prstGeom prst="roundRect">
            <a:avLst>
              <a:gd name="adj" fmla="val 6964"/>
            </a:avLst>
          </a:prstGeom>
          <a:solidFill>
            <a:srgbClr val="CEE6FD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34570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644146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364355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High-Spending Discount Users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520910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Identified customers using discounts above average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230285"/>
            <a:ext cx="4196358" cy="2931438"/>
          </a:xfrm>
          <a:prstGeom prst="roundRect">
            <a:avLst>
              <a:gd name="adj" fmla="val 6964"/>
            </a:avLst>
          </a:prstGeom>
          <a:solidFill>
            <a:srgbClr val="CEE6FD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34570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644146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364355"/>
            <a:ext cx="30816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Top Products by Rating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85477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Found highest average review ratings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572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SQL Analysis: Customer Behavior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14982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2714982"/>
            <a:ext cx="121920" cy="1367909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972276"/>
            <a:ext cx="29046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Shipping Comparison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3462695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 vs. Express average purchase amounts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309705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4309705"/>
            <a:ext cx="121920" cy="1367909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0" name="Text 7"/>
          <p:cNvSpPr/>
          <p:nvPr/>
        </p:nvSpPr>
        <p:spPr>
          <a:xfrm>
            <a:off x="6628924" y="4566999"/>
            <a:ext cx="43313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Subscribers vs. Non-Subscribers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28924" y="5057418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spend and total revenue comparison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904428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5904428"/>
            <a:ext cx="121920" cy="1367909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6161723"/>
            <a:ext cx="41174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8924" y="6652141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 products with highest discounted purchase percentage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7495"/>
            <a:ext cx="75685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SQL Analysis: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2990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84947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559254"/>
            <a:ext cx="32995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04967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Classified as New, Returning, or Loyal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302990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384947"/>
            <a:ext cx="6408063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559254"/>
            <a:ext cx="35812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Top Products per Category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404967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Listed most purchased items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40868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Repeat Buyers &amp; Subscriptions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Checked &gt;5 purchases correlation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3018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Revenue by Age Group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 revenue contribution analysis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Interactive visualizations presenting key insights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84609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Findings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025" y="1796891"/>
            <a:ext cx="549235" cy="549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9025" y="2612112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Revenue by Gender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69025" y="3083004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Male vs. female customer revenue comparison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8193" y="1796891"/>
            <a:ext cx="549235" cy="5492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48193" y="2612112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Discount Impact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448193" y="3083004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High-spending discount users identified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025" y="3854768"/>
            <a:ext cx="549235" cy="5492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9025" y="4669988"/>
            <a:ext cx="278272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Shipping Preferences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69025" y="5140881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 vs. Express purchase amounts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8193" y="3854768"/>
            <a:ext cx="549235" cy="5492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48193" y="466998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Subscription Value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448193" y="5140881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Subscribers vs. non-subscribers revenue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9025" y="5912644"/>
            <a:ext cx="549235" cy="54923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69025" y="6727865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Loyalty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769025" y="7198757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New, returning, and loyal segments</a:t>
            </a:r>
            <a:endParaRPr lang="en-US" sz="17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48193" y="5912644"/>
            <a:ext cx="549235" cy="54923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48193" y="6727865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Age Groups</a:t>
            </a:r>
            <a:endParaRPr lang="en-US" sz="2150" dirty="0"/>
          </a:p>
        </p:txBody>
      </p:sp>
      <p:sp>
        <p:nvSpPr>
          <p:cNvPr id="20" name="Text 12"/>
          <p:cNvSpPr/>
          <p:nvPr/>
        </p:nvSpPr>
        <p:spPr>
          <a:xfrm>
            <a:off x="7448193" y="7198757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contribution by age bracket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4533"/>
            <a:ext cx="75465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Business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86940"/>
            <a:ext cx="4196358" cy="2577108"/>
          </a:xfrm>
          <a:prstGeom prst="roundRect">
            <a:avLst>
              <a:gd name="adj" fmla="val 7921"/>
            </a:avLst>
          </a:prstGeom>
          <a:solidFill>
            <a:srgbClr val="CEE6FD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4137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60080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Promote exclusive subscriber benefits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186940"/>
            <a:ext cx="4196358" cy="2577108"/>
          </a:xfrm>
          <a:prstGeom prst="roundRect">
            <a:avLst>
              <a:gd name="adj" fmla="val 7921"/>
            </a:avLst>
          </a:prstGeom>
          <a:solidFill>
            <a:srgbClr val="CEE6FD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4137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260080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81142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Reward repeat buyers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186940"/>
            <a:ext cx="4196358" cy="2577108"/>
          </a:xfrm>
          <a:prstGeom prst="roundRect">
            <a:avLst>
              <a:gd name="adj" fmla="val 7921"/>
            </a:avLst>
          </a:prstGeom>
          <a:solidFill>
            <a:srgbClr val="CEE6FD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4137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260080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321010"/>
            <a:ext cx="30655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81142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Balance sales with margins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990862"/>
            <a:ext cx="6407944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0604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40472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0604" y="661535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Highlight top-rated items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990862"/>
            <a:ext cx="6407944" cy="2214205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</p:sp>
      <p:sp>
        <p:nvSpPr>
          <p:cNvPr id="24" name="Shape 18"/>
          <p:cNvSpPr/>
          <p:nvPr/>
        </p:nvSpPr>
        <p:spPr>
          <a:xfrm>
            <a:off x="7655362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404723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5362" y="661535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 on high-revenue groups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2026-05-03T15:47:31Z</dcterms:created>
  <dcterms:modified xsi:type="dcterms:W3CDTF">2026-05-03T15:47:31Z</dcterms:modified>
</cp:coreProperties>
</file>